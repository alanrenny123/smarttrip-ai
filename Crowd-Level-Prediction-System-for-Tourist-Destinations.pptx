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02754"/>
            <a:ext cx="6296860" cy="2119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b="1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Crowd Level Prediction System for Tourist Destinations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5233360" y="3005534"/>
            <a:ext cx="629686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532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 of Artificial Intelligence and Data Science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903166"/>
            <a:ext cx="629686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Group 2 :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233360" y="4331990"/>
            <a:ext cx="629686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241512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Presented to</a:t>
            </a:r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233360" y="4968677"/>
            <a:ext cx="1773094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6765" y="5025330"/>
            <a:ext cx="21558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MS. RUKSANA   K   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00908" y="4968677"/>
            <a:ext cx="1472469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14312" y="5025330"/>
            <a:ext cx="18552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. SANI  JOHN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67831" y="4968677"/>
            <a:ext cx="2628834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81235" y="5025330"/>
            <a:ext cx="30116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. MARY   NIRMALA  GEORGE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33360" y="5331420"/>
            <a:ext cx="629686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Presented by: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233360" y="5968107"/>
            <a:ext cx="1552933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6765" y="6024761"/>
            <a:ext cx="19357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AKSA ROSE BINU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80747" y="5968107"/>
            <a:ext cx="1972023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4152" y="6024761"/>
            <a:ext cx="23547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ALAKANANDA SHINOY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947224" y="5968107"/>
            <a:ext cx="1244668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2415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60628" y="6024761"/>
            <a:ext cx="16274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415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ALAN RENNY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77453"/>
            <a:ext cx="6296860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b="1" spc="-4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Overcrowding Challenge in Tourism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61475" y="2181622"/>
            <a:ext cx="6296860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Tourism is a major driver of the global economy, yet popular destinations face a persistent challenge: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overcrowding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during weekends, holidays, festivals, and peak seasons.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060898"/>
            <a:ext cx="3062608" cy="1752699"/>
          </a:xfrm>
          <a:prstGeom prst="roundRect">
            <a:avLst>
              <a:gd name="adj" fmla="val 4317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0602" y="3260030"/>
            <a:ext cx="2664354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Long Wait Times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0602" y="3699669"/>
            <a:ext cx="2664354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Queues at entry points, attractions, and facilities frustrate visitors and reduce satisfaction.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727" y="3060898"/>
            <a:ext cx="3062608" cy="1752699"/>
          </a:xfrm>
          <a:prstGeom prst="roundRect">
            <a:avLst>
              <a:gd name="adj" fmla="val 4317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4854" y="3260030"/>
            <a:ext cx="2664354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Traffic &amp; Parking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094854" y="3699669"/>
            <a:ext cx="2664354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and limited parking create logistical headaches for travelers and local authorities.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985246"/>
            <a:ext cx="6296860" cy="1295301"/>
          </a:xfrm>
          <a:prstGeom prst="roundRect">
            <a:avLst>
              <a:gd name="adj" fmla="val 5842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0602" y="5184378"/>
            <a:ext cx="5898606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Poor Experience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0602" y="5624016"/>
            <a:ext cx="5898606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Overcrowding degrades the quality of the visit, discouraging repeat tourism.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972"/>
            <a:ext cx="10868745" cy="507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b="1" spc="-3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Introducing the Crowd Level Predictor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1055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2511028"/>
            <a:ext cx="3588652" cy="151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algn="l" indent="0" marL="0">
              <a:lnSpc>
                <a:spcPct val="93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Crowd Level Predictor</a:t>
            </a:r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leverages </a:t>
            </a:r>
            <a:pPr algn="l" indent="0" marL="0">
              <a:lnSpc>
                <a:spcPct val="93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Artificial Intelligence and Machine Learning</a:t>
            </a:r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forecast expected visitor density at tourist destinations. By classifying crowd levels as </a:t>
            </a:r>
            <a:pPr algn="l" indent="0" marL="0">
              <a:lnSpc>
                <a:spcPct val="93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Low, Medium, or High</a:t>
            </a:r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system empowers travelers to make informed decisions before they visit.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8321"/>
            <a:ext cx="5385558" cy="86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550" y="5613202"/>
            <a:ext cx="4999607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 Travelers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92550" y="5976342"/>
            <a:ext cx="4999607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trips at optimal times and avoid peak hours.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662" y="5458321"/>
            <a:ext cx="5385558" cy="86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5737" y="5613202"/>
            <a:ext cx="4999607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 Tourism Management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375737" y="5976342"/>
            <a:ext cx="4999607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data-driven crowd control and resource allocation.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152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b="1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97961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84909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30165"/>
            <a:ext cx="5339820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b="1" spc="-2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Predict Crowd Levels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61475" y="2967335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expected crowd as Low, Medium, or High using supervised Machine Learning.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190301" y="1979613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284909"/>
            <a:ext cx="5339919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2430165"/>
            <a:ext cx="5339919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b="1" spc="-2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Analyze Influencing Factors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190301" y="2967335"/>
            <a:ext cx="5339919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the impact of location, date, time, weather, holidays, and festivals on visitor flow.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219277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524573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669830"/>
            <a:ext cx="5339820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b="1" spc="-2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Enable Advance Planning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61475" y="5207000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 tourists identify the best visiting windows and avoid peak congestion periods.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190301" y="4219277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524573"/>
            <a:ext cx="5339919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301" y="4669830"/>
            <a:ext cx="5339919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b="1" spc="-2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Demonstrate AI in Tourism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190301" y="5207000"/>
            <a:ext cx="533991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Showcase how AI and Data Science can improve real-world travel experiences.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559"/>
            <a:ext cx="10868745" cy="49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3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Overview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80418"/>
            <a:ext cx="6951191" cy="3939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3254" y="2790329"/>
            <a:ext cx="3593216" cy="91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captures </a:t>
            </a:r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tourist crowd-flow information</a:t>
            </a:r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destinations across India over a two-year period (2024–2025), comprising </a:t>
            </a:r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730 records</a:t>
            </a:r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</a:t>
            </a:r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 attributes</a:t>
            </a:r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429647"/>
            <a:ext cx="2647090" cy="889794"/>
          </a:xfrm>
          <a:prstGeom prst="roundRect">
            <a:avLst>
              <a:gd name="adj" fmla="val 62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7025" y="5575201"/>
            <a:ext cx="2355989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Temporal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7025" y="5879604"/>
            <a:ext cx="2355989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Date, Time, Day of Week, Week of Year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01927" y="5429647"/>
            <a:ext cx="2647189" cy="889794"/>
          </a:xfrm>
          <a:prstGeom prst="roundRect">
            <a:avLst>
              <a:gd name="adj" fmla="val 62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47478" y="5575201"/>
            <a:ext cx="2356089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47478" y="5879604"/>
            <a:ext cx="2356089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Weather, Temperature (°C)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42479" y="5429647"/>
            <a:ext cx="2647189" cy="889794"/>
          </a:xfrm>
          <a:prstGeom prst="roundRect">
            <a:avLst>
              <a:gd name="adj" fmla="val 62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8029" y="5575201"/>
            <a:ext cx="2356089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Contextual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88029" y="5879604"/>
            <a:ext cx="2356089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Holidays, Events, Region, Transportation Type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83031" y="5429647"/>
            <a:ext cx="2647189" cy="889794"/>
          </a:xfrm>
          <a:prstGeom prst="roundRect">
            <a:avLst>
              <a:gd name="adj" fmla="val 62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28581" y="5575201"/>
            <a:ext cx="2356089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28581" y="5879604"/>
            <a:ext cx="2356089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Crowd Count (in thousands)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4643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Attributes in Detail</a:t>
            </a:r>
            <a:endParaRPr lang="en-US" sz="4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79104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3804061"/>
                <a:gridCol w="4347498"/>
              </a:tblGrid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Attribute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Example Values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Date &amp; Time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Timestamp of the visit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2024-07-15 10:00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Place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Tourist destination name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Taj Mahal, Mysore Palace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Crowd Count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Number of visitors (in thousands)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1.2, 3.5, 8.0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Weather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Weather conditions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Sunny, Cloudy, Rainy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737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Holiday &amp; Event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Festivals, cultural events, regular days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Diwali, National Holiday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Temperature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Ambient temperature in °C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22°C – 38°C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Transportation Type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 of travel to the destination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Walking, Private, Public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Workflow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7482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06964"/>
            <a:ext cx="1147833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follows a standard supervised learning approach — from raw data ingestion through model training and evaluation, culminating in an actionable crowd-level prediction and visit-time recommendation for the end user.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918"/>
            <a:ext cx="10868745" cy="64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50" spc="-39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Benefits of the System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32632"/>
            <a:ext cx="342594" cy="342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69207"/>
            <a:ext cx="533733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Better Trip Planning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61475" y="2482354"/>
            <a:ext cx="5337339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Tourists can select optimal visiting windows well in advance.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782" y="1532632"/>
            <a:ext cx="342594" cy="342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2782" y="2069207"/>
            <a:ext cx="533743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Reduced Overcrowding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192782" y="2482354"/>
            <a:ext cx="5337438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Distributed visitor flow reduces strain on infrastructure and attractions.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17267"/>
            <a:ext cx="342594" cy="342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53842"/>
            <a:ext cx="533733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Improved Travel Experience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61475" y="4166989"/>
            <a:ext cx="5337339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Shorter wait times and less congestion make visits more comfortable.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2782" y="3217267"/>
            <a:ext cx="342594" cy="3426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2782" y="3753842"/>
            <a:ext cx="533743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Easier Parking &amp; Transport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6192782" y="4166989"/>
            <a:ext cx="533743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Avoiding peak hours reduces traffic and parking difficulties.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01902"/>
            <a:ext cx="342594" cy="3426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38477"/>
            <a:ext cx="533733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Smarter Tourism Management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61475" y="5851624"/>
            <a:ext cx="5337339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Authorities gain data-driven insights for resource planning.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2782" y="4901902"/>
            <a:ext cx="342594" cy="3426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2782" y="5438477"/>
            <a:ext cx="533743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Quick Crowd Prediction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6192782" y="5851624"/>
            <a:ext cx="5337438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Low / Medium / High classification for any planned visit.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AI &amp; Data Science for Tourism?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96950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518297"/>
            <a:ext cx="5319083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demonstrates how </a:t>
            </a:r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and Data Science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can transform traditional tourism management. By learning from historical patterns in weather, events, and visitor behavior, the model generalizes to provide reliable predictions — bridging the gap between raw data and real-world decision-making.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52847"/>
            <a:ext cx="6296860" cy="695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spc="-4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5233360" y="1523008"/>
            <a:ext cx="6296860" cy="143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Crowd Level Prediction System</a:t>
            </a:r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addresses a real-world tourism challenge using the power of Machine Learning. By analyzing temporal, environmental, and contextual factors, the model delivers actionable </a:t>
            </a:r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/ Medium / High</a:t>
            </a:r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crowd classifications — helping travelers plan smarter and authorities manage better.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168452"/>
            <a:ext cx="6296860" cy="3136702"/>
          </a:xfrm>
          <a:prstGeom prst="roundRect">
            <a:avLst>
              <a:gd name="adj" fmla="val 2491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52410" y="3187502"/>
            <a:ext cx="3129380" cy="1789212"/>
          </a:xfrm>
          <a:custGeom>
            <a:avLst/>
            <a:gdLst/>
            <a:ahLst/>
            <a:cxnLst/>
            <a:rect l="l" t="t" r="r" b="b"/>
            <a:pathLst>
              <a:path w="3129380" h="1789212">
                <a:moveTo>
                  <a:pt x="65123" y="0"/>
                </a:moveTo>
                <a:lnTo>
                  <a:pt x="3129380" y="0"/>
                </a:lnTo>
                <a:lnTo>
                  <a:pt x="3129380" y="1789212"/>
                </a:lnTo>
                <a:lnTo>
                  <a:pt x="0" y="1789212"/>
                </a:lnTo>
                <a:lnTo>
                  <a:pt x="0" y="65124"/>
                </a:lnTo>
                <a:arcTo hR="65124" wR="65123" stAng="10800000" swAng="5400000"/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7" name="Text 4"/>
          <p:cNvSpPr/>
          <p:nvPr/>
        </p:nvSpPr>
        <p:spPr>
          <a:xfrm>
            <a:off x="5438441" y="3373537"/>
            <a:ext cx="275731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Solved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38441" y="3831034"/>
            <a:ext cx="2757319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Overcrowding, long waits, and poor visitor experience at popular destinations.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3187502"/>
            <a:ext cx="3129380" cy="1789212"/>
          </a:xfrm>
          <a:custGeom>
            <a:avLst/>
            <a:gdLst/>
            <a:ahLst/>
            <a:cxnLst/>
            <a:rect l="l" t="t" r="r" b="b"/>
            <a:pathLst>
              <a:path w="3129380" h="1789212">
                <a:moveTo>
                  <a:pt x="0" y="0"/>
                </a:moveTo>
                <a:lnTo>
                  <a:pt x="3064258" y="0"/>
                </a:lnTo>
                <a:arcTo hR="65124" wR="65123" stAng="16200000" swAng="5400000"/>
                <a:lnTo>
                  <a:pt x="3129380" y="1789212"/>
                </a:lnTo>
                <a:lnTo>
                  <a:pt x="0" y="1789212"/>
                </a:lnTo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187502"/>
            <a:ext cx="25399" cy="1789212"/>
          </a:xfrm>
          <a:prstGeom prst="roundRect">
            <a:avLst>
              <a:gd name="adj" fmla="val 50001"/>
            </a:avLst>
          </a:prstGeom>
          <a:solidFill>
            <a:srgbClr val="FFE0CC"/>
          </a:solidFill>
          <a:ln/>
        </p:spPr>
      </p:sp>
      <p:sp>
        <p:nvSpPr>
          <p:cNvPr id="11" name="Text 8"/>
          <p:cNvSpPr/>
          <p:nvPr/>
        </p:nvSpPr>
        <p:spPr>
          <a:xfrm>
            <a:off x="8567821" y="3373537"/>
            <a:ext cx="275731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Approach Used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567821" y="3831034"/>
            <a:ext cx="2757319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Supervised ML on a 2-year, 730-record dataset with 13 attributes from Indian tourist sites.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52410" y="4976713"/>
            <a:ext cx="6258761" cy="1309390"/>
          </a:xfrm>
          <a:custGeom>
            <a:avLst/>
            <a:gdLst/>
            <a:ahLst/>
            <a:cxnLst/>
            <a:rect l="l" t="t" r="r" b="b"/>
            <a:pathLst>
              <a:path w="6258761" h="1309390">
                <a:moveTo>
                  <a:pt x="0" y="0"/>
                </a:moveTo>
                <a:lnTo>
                  <a:pt x="6258761" y="0"/>
                </a:lnTo>
                <a:lnTo>
                  <a:pt x="6258761" y="1244266"/>
                </a:lnTo>
                <a:arcTo hR="65124" wR="65123" stAng="0" swAng="5400000"/>
                <a:lnTo>
                  <a:pt x="65123" y="1309390"/>
                </a:lnTo>
                <a:arcTo hR="65124" wR="65123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252410" y="4976713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5" name="Text 12"/>
          <p:cNvSpPr/>
          <p:nvPr/>
        </p:nvSpPr>
        <p:spPr>
          <a:xfrm>
            <a:off x="5438441" y="5162748"/>
            <a:ext cx="5886700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Impact Delivered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438441" y="5620246"/>
            <a:ext cx="58867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 trip planning, smarter tourism management, and improved visitor satisfaction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11165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250" b="1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Thank You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356682" y="380107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hope you enjoyed our presentation.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2026-09-04T16:47:59Z</dcterms:created>
  <dcterms:modified xsi:type="dcterms:W3CDTF">2026-09-04T16:47:59Z</dcterms:modified>
</cp:coreProperties>
</file>